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954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7DC6E8">
                  <a:alpha val="13000"/>
                </a:srgbClr>
              </a:gs>
              <a:gs pos="55000">
                <a:srgbClr val="7DC6E8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38250" y="838200"/>
            <a:ext cx="495300" cy="495300"/>
          </a:xfrm>
          <a:prstGeom prst="roundRect">
            <a:avLst>
              <a:gd name="adj" fmla="val 30769"/>
            </a:avLst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90650" y="9906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1023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905000" y="845344"/>
            <a:ext cx="1759074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 OS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3732758" y="935831"/>
            <a:ext cx="181056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APAS.AI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3595241"/>
            <a:ext cx="15304770" cy="2091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217"/>
              </a:lnSpc>
              <a:buNone/>
            </a:pPr>
            <a:r>
              <a:rPr lang="en-US" sz="8250" b="1" kern="0" spc="-165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system for the people accountable for </a:t>
            </a:r>
            <a:r>
              <a:rPr lang="en-US" sz="8250" b="1" kern="0" spc="-165" dirty="0">
                <a:solidFill>
                  <a:srgbClr val="7D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water.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1238250" y="6029771"/>
            <a:ext cx="1128236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Fats, rags, oils, and grease cost the County every month. FROG OS sees FOG before it costs, on data Miami-Dade already owns.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5929595" y="9263063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5831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5875" y="859631"/>
            <a:ext cx="29777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200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19238"/>
            <a:ext cx="13735050" cy="1606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06"/>
              </a:lnSpc>
              <a:buNone/>
            </a:pPr>
            <a:r>
              <a:rPr lang="en-US" sz="6300" b="1" kern="0" spc="-12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Grease costs Miami-Dade millions every year.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1047750" y="3696891"/>
            <a:ext cx="3043014" cy="2744019"/>
          </a:xfrm>
          <a:prstGeom prst="roundRect">
            <a:avLst>
              <a:gd name="adj" fmla="val 6942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62075" y="3992166"/>
            <a:ext cx="26558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62075" y="4425553"/>
            <a:ext cx="265580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362075" y="5068491"/>
            <a:ext cx="2490564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Fats, oils, and grease harden inside the pipe.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243164" y="3696891"/>
            <a:ext cx="271239" cy="2782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4590604" y="3696891"/>
            <a:ext cx="3043089" cy="2744019"/>
          </a:xfrm>
          <a:prstGeom prst="roundRect">
            <a:avLst>
              <a:gd name="adj" fmla="val 6942"/>
            </a:avLst>
          </a:prstGeom>
          <a:solidFill>
            <a:srgbClr val="232220"/>
          </a:solidFill>
          <a:ln w="9525">
            <a:solidFill>
              <a:srgbClr val="E0A64A">
                <a:alpha val="35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04929" y="3992166"/>
            <a:ext cx="265588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0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04929" y="4425553"/>
            <a:ext cx="26558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4904929" y="5068491"/>
            <a:ext cx="2490639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up rags and wipes. Strains and jams the pumps.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786092" y="3696891"/>
            <a:ext cx="271239" cy="2782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133531" y="3696891"/>
            <a:ext cx="3043089" cy="2744019"/>
          </a:xfrm>
          <a:prstGeom prst="roundRect">
            <a:avLst>
              <a:gd name="adj" fmla="val 6942"/>
            </a:avLst>
          </a:prstGeom>
          <a:solidFill>
            <a:srgbClr val="E0A64A">
              <a:alpha val="15000"/>
            </a:srgbClr>
          </a:solidFill>
          <a:ln w="9525">
            <a:solidFill>
              <a:srgbClr val="E0A6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47856" y="3992166"/>
            <a:ext cx="265588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0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47856" y="4425553"/>
            <a:ext cx="26558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E0A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FATBERG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8447856" y="5068491"/>
            <a:ext cx="2490639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the main. Overflows into Biscayne Bay.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6860009"/>
            <a:ext cx="10128870" cy="1524000"/>
          </a:xfrm>
          <a:prstGeom prst="roundRect">
            <a:avLst>
              <a:gd name="adj" fmla="val 12500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19225" y="7193384"/>
            <a:ext cx="966749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blockage is paid for twice: the crew that clears it, and the overflow it causes when the crew is late.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786220" y="3696891"/>
            <a:ext cx="5453955" cy="5289054"/>
          </a:xfrm>
          <a:prstGeom prst="roundRect">
            <a:avLst>
              <a:gd name="adj" fmla="val 4322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233895" y="4125516"/>
            <a:ext cx="501446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705"/>
              </a:lnSpc>
              <a:buNone/>
            </a:pPr>
            <a:r>
              <a:rPr lang="en-US" sz="11250" b="1" kern="0" spc="-337" dirty="0">
                <a:solidFill>
                  <a:srgbClr val="E0A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</a:t>
            </a:r>
            <a:endParaRPr lang="en-US" sz="11250" dirty="0"/>
          </a:p>
        </p:txBody>
      </p:sp>
      <p:sp>
        <p:nvSpPr>
          <p:cNvPr id="24" name="Text 22"/>
          <p:cNvSpPr/>
          <p:nvPr/>
        </p:nvSpPr>
        <p:spPr>
          <a:xfrm>
            <a:off x="12233895" y="5706666"/>
            <a:ext cx="4695364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23"/>
              </a:lnSpc>
              <a:buNone/>
            </a:pPr>
            <a:r>
              <a:rPr lang="en-US" sz="210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consent decree Miami-Dade signed to stop sanitary sewer overflows.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2233895" y="6866632"/>
            <a:ext cx="4558605" cy="9525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233895" y="7028557"/>
            <a:ext cx="469536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CLEANUP · PAID EVERY MONTH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233895" y="7480995"/>
            <a:ext cx="4558605" cy="9525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233895" y="7642920"/>
            <a:ext cx="469536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OVERFLOWS · INTO THE BAY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233895" y="8095357"/>
            <a:ext cx="4558605" cy="9525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233895" y="8257282"/>
            <a:ext cx="469536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PENALTIES · FEDERAL OVERSIGHT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47750" y="960596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 · FROG OS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5831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5875" y="859631"/>
            <a:ext cx="39082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THE REAL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200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19238"/>
            <a:ext cx="14716125" cy="1606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06"/>
              </a:lnSpc>
              <a:buNone/>
            </a:pPr>
            <a:r>
              <a:rPr lang="en-US" sz="6300" b="1" kern="0" spc="-12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Grease is a symptom. The County's data cannot see it.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047750" y="3353991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sits in systems that do not talk.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47750" y="4239816"/>
            <a:ext cx="2918445" cy="1252538"/>
          </a:xfrm>
          <a:prstGeom prst="roundRect">
            <a:avLst>
              <a:gd name="adj" fmla="val 13688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04925" y="4516041"/>
            <a:ext cx="26445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04925" y="4916091"/>
            <a:ext cx="264450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80495" y="4677966"/>
            <a:ext cx="21145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4366245" y="4239816"/>
            <a:ext cx="2918520" cy="1252538"/>
          </a:xfrm>
          <a:prstGeom prst="roundRect">
            <a:avLst>
              <a:gd name="adj" fmla="val 13688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23420" y="4516041"/>
            <a:ext cx="26445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23420" y="4916091"/>
            <a:ext cx="264458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560 HAULERS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99065" y="4677966"/>
            <a:ext cx="21145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7684815" y="4239816"/>
            <a:ext cx="2918445" cy="1252538"/>
          </a:xfrm>
          <a:prstGeom prst="roundRect">
            <a:avLst>
              <a:gd name="adj" fmla="val 13688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41990" y="4516041"/>
            <a:ext cx="26445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941990" y="4916091"/>
            <a:ext cx="264450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TRAIL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17560" y="4677966"/>
            <a:ext cx="21145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003310" y="4239816"/>
            <a:ext cx="2918445" cy="1252538"/>
          </a:xfrm>
          <a:prstGeom prst="roundRect">
            <a:avLst>
              <a:gd name="adj" fmla="val 13688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260485" y="4516041"/>
            <a:ext cx="26445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260485" y="4916091"/>
            <a:ext cx="264450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PUMP STATIONS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036055" y="4677966"/>
            <a:ext cx="21145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0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4321805" y="4239816"/>
            <a:ext cx="2918445" cy="1252538"/>
          </a:xfrm>
          <a:prstGeom prst="roundRect">
            <a:avLst>
              <a:gd name="adj" fmla="val 13688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578980" y="4516041"/>
            <a:ext cx="26445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578980" y="4916091"/>
            <a:ext cx="264450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47750" y="5701903"/>
            <a:ext cx="140817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 DEPARTMENTS · DIFFERENT VENDORS · DIFFERENT FORMATS · NO SHARED RECORD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47750" y="6497241"/>
            <a:ext cx="7943850" cy="1514475"/>
          </a:xfrm>
          <a:prstGeom prst="roundRect">
            <a:avLst>
              <a:gd name="adj" fmla="val 12579"/>
            </a:avLst>
          </a:prstGeom>
          <a:solidFill>
            <a:srgbClr val="322F2C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19225" y="6830616"/>
            <a:ext cx="792099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0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INFOBESITY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9225" y="7264003"/>
            <a:ext cx="792099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 every year. Less sight.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296400" y="6497241"/>
            <a:ext cx="7943850" cy="1514475"/>
          </a:xfrm>
          <a:prstGeom prst="roundRect">
            <a:avLst>
              <a:gd name="adj" fmla="val 12579"/>
            </a:avLst>
          </a:prstGeom>
          <a:solidFill>
            <a:srgbClr val="322F2C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67875" y="6830616"/>
            <a:ext cx="792099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0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CONSEQUENCE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67875" y="7264003"/>
            <a:ext cx="792099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be proactive while chasing symptoms.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047750" y="960596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 · FROG OS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7DC6E8">
                  <a:alpha val="10000"/>
                </a:srgbClr>
              </a:gs>
              <a:gs pos="55000">
                <a:srgbClr val="7DC6E8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38250" y="935831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76375" y="859631"/>
            <a:ext cx="22332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WHY NOW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295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502000"/>
            <a:ext cx="15925800" cy="1048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770"/>
              </a:lnSpc>
              <a:buNone/>
            </a:pPr>
            <a:r>
              <a:rPr lang="en-US" sz="7800" b="1" kern="0" spc="-15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amplifies whatever it </a:t>
            </a:r>
            <a:r>
              <a:rPr lang="en-US" sz="7800" b="1" kern="0" spc="-156" dirty="0">
                <a:solidFill>
                  <a:srgbClr val="7D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stands on.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238250" y="4969594"/>
            <a:ext cx="12263438" cy="1041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already sits in the County's own Open Data Portal. The gap is ungoverned data.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38250" y="6182990"/>
            <a:ext cx="13096875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it first, and AI becomes something a utility can trust.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238250" y="9048750"/>
            <a:ext cx="3911352" cy="628650"/>
          </a:xfrm>
          <a:prstGeom prst="roundRect">
            <a:avLst>
              <a:gd name="adj" fmla="val 50000"/>
            </a:avLst>
          </a:prstGeom>
          <a:solidFill>
            <a:srgbClr val="7DC6E8">
              <a:alpha val="12000"/>
            </a:srgbClr>
          </a:solidFill>
          <a:ln w="9525">
            <a:solidFill>
              <a:srgbClr val="7DC6E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71625" y="9310688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0" y="9210675"/>
            <a:ext cx="32861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420" dirty="0">
                <a:solidFill>
                  <a:srgbClr val="9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BEFORE AI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111930" y="9213056"/>
            <a:ext cx="54316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MIAMI-DADE OPEN DATA PORTAL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5831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5875" y="859631"/>
            <a:ext cx="31637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THE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200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19238"/>
            <a:ext cx="17811750" cy="822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06"/>
              </a:lnSpc>
              <a:buNone/>
            </a:pPr>
            <a:r>
              <a:rPr lang="en-US" sz="6300" b="1" kern="0" spc="-12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 OS follows the substance.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1496541" y="2931914"/>
            <a:ext cx="190500" cy="190500"/>
          </a:xfrm>
          <a:prstGeom prst="ellipse">
            <a:avLst/>
          </a:prstGeom>
          <a:solidFill>
            <a:srgbClr val="7DC6E8"/>
          </a:solidFill>
          <a:ln/>
          <a:effectLst>
            <a:outerShdw blurRad="209550" dist="50800" dir="16200000" algn="bl" rotWithShape="0">
              <a:srgbClr val="7DC6E8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3274814"/>
            <a:ext cx="1164357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2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KITCHEN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31157" y="3017639"/>
            <a:ext cx="1524521" cy="19050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10621" y="2931914"/>
            <a:ext cx="190500" cy="190500"/>
          </a:xfrm>
          <a:prstGeom prst="ellipse">
            <a:avLst/>
          </a:prstGeom>
          <a:solidFill>
            <a:srgbClr val="555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50928" y="3274814"/>
            <a:ext cx="1880957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INTERCEPTOR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56138" y="3017639"/>
            <a:ext cx="1524595" cy="19050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47087" y="2931914"/>
            <a:ext cx="190500" cy="190500"/>
          </a:xfrm>
          <a:prstGeom prst="ellipse">
            <a:avLst/>
          </a:prstGeom>
          <a:solidFill>
            <a:srgbClr val="555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75984" y="3274814"/>
            <a:ext cx="1008906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HAULER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03940" y="3017639"/>
            <a:ext cx="1524595" cy="19050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450339" y="2931914"/>
            <a:ext cx="190500" cy="190500"/>
          </a:xfrm>
          <a:prstGeom prst="ellipse">
            <a:avLst/>
          </a:prstGeom>
          <a:solidFill>
            <a:srgbClr val="555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23785" y="3274814"/>
            <a:ext cx="1367969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262643" y="3017639"/>
            <a:ext cx="1524595" cy="19050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719944" y="2931914"/>
            <a:ext cx="190500" cy="190500"/>
          </a:xfrm>
          <a:prstGeom prst="ellipse">
            <a:avLst/>
          </a:prstGeom>
          <a:solidFill>
            <a:srgbClr val="555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882488" y="3274814"/>
            <a:ext cx="2051953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PUMP STATION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843150" y="3017639"/>
            <a:ext cx="1524595" cy="19050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756335" y="2931914"/>
            <a:ext cx="190500" cy="190500"/>
          </a:xfrm>
          <a:prstGeom prst="ellipse">
            <a:avLst/>
          </a:prstGeom>
          <a:solidFill>
            <a:srgbClr val="4AC88C"/>
          </a:solidFill>
          <a:ln/>
          <a:effectLst>
            <a:outerShdw blurRad="209550" dist="50800" dir="16200000" algn="bl" rotWithShape="0">
              <a:srgbClr val="4AC88C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462995" y="3274814"/>
            <a:ext cx="853455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2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50" y="4070152"/>
            <a:ext cx="5206975" cy="2276475"/>
          </a:xfrm>
          <a:prstGeom prst="roundRect">
            <a:avLst>
              <a:gd name="adj" fmla="val 8368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00175" y="4403527"/>
            <a:ext cx="49523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DIGITIZE THE SOURCE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00175" y="4855964"/>
            <a:ext cx="4637189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permitted food-service facility, hauler manifest, and inspection, in one place.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6540475" y="4070152"/>
            <a:ext cx="5206975" cy="2276475"/>
          </a:xfrm>
          <a:prstGeom prst="roundRect">
            <a:avLst>
              <a:gd name="adj" fmla="val 8368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92900" y="4403527"/>
            <a:ext cx="49523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 THE RISK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92900" y="4855964"/>
            <a:ext cx="4637189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Grease risk lands on its real source, restaurant or residence, not on a guess.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2033200" y="4070152"/>
            <a:ext cx="5207050" cy="2276475"/>
          </a:xfrm>
          <a:prstGeom prst="roundRect">
            <a:avLst>
              <a:gd name="adj" fmla="val 8368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385625" y="4403527"/>
            <a:ext cx="49524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BY RECOVERABLE COST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85625" y="4855964"/>
            <a:ext cx="4637266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stations ranked by what enforcement can actually recover, on a record that holds up.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4086225" y="6765727"/>
            <a:ext cx="10115550" cy="547688"/>
          </a:xfrm>
          <a:prstGeom prst="roundRect">
            <a:avLst>
              <a:gd name="adj" fmla="val 50000"/>
            </a:avLst>
          </a:prstGeom>
          <a:solidFill>
            <a:srgbClr val="4AC88C">
              <a:alpha val="16000"/>
            </a:srgbClr>
          </a:solidFill>
          <a:ln w="9525">
            <a:solidFill>
              <a:srgbClr val="4AC88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43400" y="6889552"/>
            <a:ext cx="990466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4AC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NEW INFRASTRUCTURE · RUNS ON DATA THE COUNTY ALREADY OWNS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47750" y="960596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 · FROG 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5831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5875" y="859631"/>
            <a:ext cx="31637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HOW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200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19238"/>
            <a:ext cx="17811750" cy="822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06"/>
              </a:lnSpc>
              <a:buNone/>
            </a:pPr>
            <a:r>
              <a:rPr lang="en-US" sz="6300" b="1" kern="0" spc="-12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data in. Deterministic answers out.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047750" y="2950964"/>
            <a:ext cx="373484" cy="1309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11734" y="2874764"/>
            <a:ext cx="796290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611734" y="3451027"/>
            <a:ext cx="74561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vendor, any format, structured or unstructured. The patent-pending method makes it one language.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047750" y="4546402"/>
            <a:ext cx="8570565" cy="9525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4955977"/>
            <a:ext cx="373484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611734" y="4879777"/>
            <a:ext cx="796290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611734" y="5456039"/>
            <a:ext cx="745617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Cleansed and anomaly-flagged, then joined into one connected model: restaurants and homes through pipes and manholes to pump stations and the plant.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47750" y="6937177"/>
            <a:ext cx="8570565" cy="9525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7750" y="7346752"/>
            <a:ext cx="373484" cy="1309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611734" y="7270552"/>
            <a:ext cx="796290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611734" y="7846814"/>
            <a:ext cx="74561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risk, ranked by recoverable cost. Every inference computes the same way each time.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0227915" y="2874764"/>
            <a:ext cx="7012335" cy="4481513"/>
          </a:xfrm>
          <a:prstGeom prst="roundRect">
            <a:avLst>
              <a:gd name="adj" fmla="val 4676"/>
            </a:avLst>
          </a:prstGeom>
          <a:gradFill rotWithShape="1">
            <a:gsLst>
              <a:gs pos="0">
                <a:srgbClr val="232220">
                  <a:alpha val="100000"/>
                </a:srgbClr>
              </a:gs>
              <a:gs pos="100000">
                <a:srgbClr val="161513">
                  <a:alpha val="100000"/>
                </a:srgbClr>
              </a:gs>
            </a:gsLst>
            <a:lin ang="5400000" scaled="0"/>
          </a:gradFill>
          <a:ln w="9525">
            <a:solidFill>
              <a:srgbClr val="F2F1EC">
                <a:alpha val="12000"/>
              </a:srgbClr>
            </a:solidFill>
            <a:prstDash val="solid"/>
          </a:ln>
          <a:effectLst>
            <a:outerShdw blurRad="762000" dist="3810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618440" y="3227189"/>
            <a:ext cx="2905497" cy="390525"/>
          </a:xfrm>
          <a:prstGeom prst="roundRect">
            <a:avLst>
              <a:gd name="adj" fmla="val 19512"/>
            </a:avLst>
          </a:prstGeom>
          <a:solidFill>
            <a:srgbClr val="4AC88C">
              <a:alpha val="16000"/>
            </a:srgbClr>
          </a:solidFill>
          <a:ln w="9525">
            <a:solidFill>
              <a:srgbClr val="4AC88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780365" y="3379589"/>
            <a:ext cx="85725" cy="85725"/>
          </a:xfrm>
          <a:prstGeom prst="ellipse">
            <a:avLst/>
          </a:prstGeom>
          <a:solidFill>
            <a:srgbClr val="4AC8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61340" y="3293864"/>
            <a:ext cx="24768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AC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CONFIDENCE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18440" y="4465439"/>
            <a:ext cx="6231285" cy="9525"/>
          </a:xfrm>
          <a:prstGeom prst="rect">
            <a:avLst/>
          </a:prstGeom>
          <a:solidFill>
            <a:srgbClr val="F2F1EC">
              <a:alpha val="1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18440" y="4122539"/>
            <a:ext cx="85725" cy="85725"/>
          </a:xfrm>
          <a:prstGeom prst="ellipse">
            <a:avLst/>
          </a:prstGeom>
          <a:solidFill>
            <a:srgbClr val="4AC8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856565" y="4008239"/>
            <a:ext cx="23574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the permit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0618440" y="5075039"/>
            <a:ext cx="6231285" cy="9525"/>
          </a:xfrm>
          <a:prstGeom prst="rect">
            <a:avLst/>
          </a:prstGeom>
          <a:solidFill>
            <a:srgbClr val="F2F1EC">
              <a:alpha val="1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618440" y="4732139"/>
            <a:ext cx="85725" cy="85725"/>
          </a:xfrm>
          <a:prstGeom prst="ellipse">
            <a:avLst/>
          </a:prstGeom>
          <a:solidFill>
            <a:srgbClr val="4AC8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856565" y="4617839"/>
            <a:ext cx="3143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 the manifest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618440" y="5684639"/>
            <a:ext cx="6231285" cy="9525"/>
          </a:xfrm>
          <a:prstGeom prst="rect">
            <a:avLst/>
          </a:prstGeom>
          <a:solidFill>
            <a:srgbClr val="F2F1EC">
              <a:alpha val="1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618440" y="5341739"/>
            <a:ext cx="85725" cy="85725"/>
          </a:xfrm>
          <a:prstGeom prst="ellipse">
            <a:avLst/>
          </a:prstGeom>
          <a:solidFill>
            <a:srgbClr val="E0A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856565" y="5227439"/>
            <a:ext cx="29860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 the anomaly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0618440" y="5951339"/>
            <a:ext cx="85725" cy="8572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856565" y="5837039"/>
            <a:ext cx="28289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 the station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0618440" y="6503789"/>
            <a:ext cx="6231285" cy="9525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618440" y="6703814"/>
            <a:ext cx="641822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ANSWER TRACES TO ITS SOURCE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47750" y="960596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 · FROG OS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5831"/>
            <a:ext cx="104775" cy="104775"/>
          </a:xfrm>
          <a:prstGeom prst="ellipse">
            <a:avLst/>
          </a:prstGeom>
          <a:solidFill>
            <a:srgbClr val="4AC88C"/>
          </a:solidFill>
          <a:ln/>
          <a:effectLst>
            <a:outerShdw blurRad="133350" dist="50800" dir="16200000" algn="bl" rotWithShape="0">
              <a:srgbClr val="4AC88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5875" y="859631"/>
            <a:ext cx="18610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4AC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PROOF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200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19238"/>
            <a:ext cx="17811750" cy="822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06"/>
              </a:lnSpc>
              <a:buNone/>
            </a:pPr>
            <a:r>
              <a:rPr lang="en-US" sz="6300" b="1" kern="0" spc="-12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 on real Miami-Dade data.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1047750" y="2836664"/>
            <a:ext cx="5219700" cy="3221831"/>
          </a:xfrm>
          <a:prstGeom prst="roundRect">
            <a:avLst>
              <a:gd name="adj" fmla="val 6504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9225" y="3189089"/>
            <a:ext cx="49244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 CORPUS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9225" y="3679627"/>
            <a:ext cx="49244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29"/>
              </a:lnSpc>
              <a:buNone/>
            </a:pPr>
            <a:r>
              <a:rPr lang="en-US" sz="6600" b="1" kern="0" spc="-132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9,000</a:t>
            </a:r>
            <a:r>
              <a:rPr lang="en-US" sz="6600" b="1" kern="0" spc="-132" dirty="0">
                <a:solidFill>
                  <a:srgbClr val="7D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1419225" y="4670227"/>
            <a:ext cx="461105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Permitted food-service facilities, the full County corpus, ingested from the Open Data Portal.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534150" y="2836664"/>
            <a:ext cx="5219700" cy="3221831"/>
          </a:xfrm>
          <a:prstGeom prst="roundRect">
            <a:avLst>
              <a:gd name="adj" fmla="val 6504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05625" y="3189089"/>
            <a:ext cx="49244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5625" y="3679627"/>
            <a:ext cx="49244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29"/>
              </a:lnSpc>
              <a:buNone/>
            </a:pPr>
            <a:r>
              <a:rPr lang="en-US" sz="6600" b="1" kern="0" spc="-132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~213K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6905625" y="4670227"/>
            <a:ext cx="4611052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 line-items resolved by the deterministic reconciliation engine.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2020550" y="2836664"/>
            <a:ext cx="5219700" cy="3221831"/>
          </a:xfrm>
          <a:prstGeom prst="roundRect">
            <a:avLst>
              <a:gd name="adj" fmla="val 6504"/>
            </a:avLst>
          </a:prstGeom>
          <a:solidFill>
            <a:srgbClr val="232220"/>
          </a:solidFill>
          <a:ln w="9525">
            <a:solidFill>
              <a:srgbClr val="4AC88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392025" y="3296245"/>
            <a:ext cx="85725" cy="85725"/>
          </a:xfrm>
          <a:prstGeom prst="ellipse">
            <a:avLst/>
          </a:prstGeom>
          <a:solidFill>
            <a:srgbClr val="4AC8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592050" y="3189089"/>
            <a:ext cx="343997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4AC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PUMP NETWORK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92025" y="3679627"/>
            <a:ext cx="49244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29"/>
              </a:lnSpc>
              <a:buNone/>
            </a:pPr>
            <a:r>
              <a:rPr lang="en-US" sz="6600" b="1" kern="0" spc="-132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12392025" y="4670227"/>
            <a:ext cx="4611052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Opa-locka pump stations streaming SCADA and manhole smart-cover data.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47750" y="6325195"/>
            <a:ext cx="5219700" cy="2844626"/>
          </a:xfrm>
          <a:prstGeom prst="roundRect">
            <a:avLst>
              <a:gd name="adj" fmla="val 7367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19225" y="6677620"/>
            <a:ext cx="49244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 PARTNER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9225" y="7168158"/>
            <a:ext cx="4924425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kern="0" spc="-33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 of support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1419225" y="7781553"/>
            <a:ext cx="4611052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Airia Austin, Director, Opa-locka Public Works and Utilities. June 1, 2026.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534150" y="6325195"/>
            <a:ext cx="5219700" cy="2844626"/>
          </a:xfrm>
          <a:prstGeom prst="roundRect">
            <a:avLst>
              <a:gd name="adj" fmla="val 7367"/>
            </a:avLst>
          </a:prstGeom>
          <a:solidFill>
            <a:srgbClr val="232220"/>
          </a:solidFill>
          <a:ln w="9525">
            <a:solidFill>
              <a:srgbClr val="E0A64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5625" y="6677620"/>
            <a:ext cx="49244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0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5625" y="7168158"/>
            <a:ext cx="4924425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kern="0" spc="-33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Patent-pending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6905625" y="7781553"/>
            <a:ext cx="461105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Water intelligence module: normalize, cleanse, attribute, and trace any data.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2020550" y="6325195"/>
            <a:ext cx="5219700" cy="2844626"/>
          </a:xfrm>
          <a:prstGeom prst="roundRect">
            <a:avLst>
              <a:gd name="adj" fmla="val 7367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392025" y="6677620"/>
            <a:ext cx="49244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EVIDENCE-GRADE BUILD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92025" y="7168158"/>
            <a:ext cx="4924425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kern="0" spc="-33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12392025" y="7781553"/>
            <a:ext cx="461105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access, step-up sign-off, immutable hashed notices, append-only audit log. W3C and ISO grounded.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047750" y="960596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 · FROG OS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5831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5875" y="859631"/>
            <a:ext cx="31637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THE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200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19238"/>
            <a:ext cx="17811750" cy="822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06"/>
              </a:lnSpc>
              <a:buNone/>
            </a:pPr>
            <a:r>
              <a:rPr lang="en-US" sz="6300" b="1" kern="0" spc="-12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the wedge. Inherit the platform.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1047750" y="2722364"/>
            <a:ext cx="3862387" cy="3283744"/>
          </a:xfrm>
          <a:prstGeom prst="roundRect">
            <a:avLst>
              <a:gd name="adj" fmla="val 5801"/>
            </a:avLst>
          </a:prstGeom>
          <a:solidFill>
            <a:srgbClr val="232220"/>
          </a:solidFill>
          <a:ln w="9525">
            <a:solidFill>
              <a:srgbClr val="7DC6E8">
                <a:alpha val="50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62075" y="3017639"/>
            <a:ext cx="1501155" cy="395288"/>
          </a:xfrm>
          <a:prstGeom prst="roundRect">
            <a:avLst>
              <a:gd name="adj" fmla="val 14458"/>
            </a:avLst>
          </a:prstGeom>
          <a:solidFill>
            <a:srgbClr val="7DC6E8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95425" y="3065264"/>
            <a:ext cx="13106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WEDGE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62075" y="3584377"/>
            <a:ext cx="3557111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 OS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362075" y="4203502"/>
            <a:ext cx="333075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side. Permits, manifests, inspections.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362075" y="5065514"/>
            <a:ext cx="35571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C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57788" y="2722364"/>
            <a:ext cx="3862387" cy="3283744"/>
          </a:xfrm>
          <a:prstGeom prst="roundRect">
            <a:avLst>
              <a:gd name="adj" fmla="val 5801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72113" y="3017639"/>
            <a:ext cx="1775520" cy="395288"/>
          </a:xfrm>
          <a:prstGeom prst="roundRect">
            <a:avLst>
              <a:gd name="adj" fmla="val 14458"/>
            </a:avLst>
          </a:prstGeom>
          <a:solidFill>
            <a:srgbClr val="F2F1EC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05463" y="3065264"/>
            <a:ext cx="15850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NETWORK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72113" y="3584377"/>
            <a:ext cx="3557111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OS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5472113" y="4203502"/>
            <a:ext cx="333075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side. Live SCADA and smart covers.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5472113" y="5065514"/>
            <a:ext cx="35571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C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· 19 STATIONS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67825" y="2722364"/>
            <a:ext cx="3862387" cy="3283744"/>
          </a:xfrm>
          <a:prstGeom prst="roundRect">
            <a:avLst>
              <a:gd name="adj" fmla="val 5801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582150" y="3017639"/>
            <a:ext cx="1364010" cy="395288"/>
          </a:xfrm>
          <a:prstGeom prst="roundRect">
            <a:avLst>
              <a:gd name="adj" fmla="val 14458"/>
            </a:avLst>
          </a:prstGeom>
          <a:solidFill>
            <a:srgbClr val="F2F1EC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15500" y="3065264"/>
            <a:ext cx="11735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CODE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82150" y="3584377"/>
            <a:ext cx="3557111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REGOS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582150" y="4203502"/>
            <a:ext cx="333075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as code. Chapter 24, DERM. Chapter 32, WASD.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9582150" y="5410795"/>
            <a:ext cx="35571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C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· REGOS.AI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377863" y="2722364"/>
            <a:ext cx="3862387" cy="3283744"/>
          </a:xfrm>
          <a:prstGeom prst="roundRect">
            <a:avLst>
              <a:gd name="adj" fmla="val 5801"/>
            </a:avLst>
          </a:prstGeom>
          <a:ln w="9525">
            <a:solidFill>
              <a:srgbClr val="F2F1EC">
                <a:alpha val="2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692188" y="3017639"/>
            <a:ext cx="1501155" cy="395288"/>
          </a:xfrm>
          <a:prstGeom prst="roundRect">
            <a:avLst>
              <a:gd name="adj" fmla="val 14458"/>
            </a:avLst>
          </a:prstGeom>
          <a:solidFill>
            <a:srgbClr val="F2F1EC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825538" y="3065264"/>
            <a:ext cx="13106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PIPES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692188" y="3584377"/>
            <a:ext cx="3557111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 OS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13692188" y="4203502"/>
            <a:ext cx="333075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83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 layer, prototyped in the pilot.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3692188" y="5065514"/>
            <a:ext cx="35571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NEXT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47750" y="7095827"/>
            <a:ext cx="10791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 thread. Every OS reads the same governed model, so a grease source and the pump downstream of it are one signal.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047750" y="8162627"/>
            <a:ext cx="107918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$100K funds the wedge. The County inherits the platform that makes any utility AI-ready.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2096750" y="6329958"/>
            <a:ext cx="5143500" cy="3370138"/>
          </a:xfrm>
          <a:prstGeom prst="roundRect">
            <a:avLst>
              <a:gd name="adj" fmla="val 5087"/>
            </a:avLst>
          </a:prstGeom>
          <a:ln w="9525">
            <a:solidFill>
              <a:srgbClr val="F2F1EC">
                <a:alpha val="12000"/>
              </a:srgbClr>
            </a:solidFill>
            <a:prstDash val="solid"/>
          </a:ln>
          <a:effectLst>
            <a:outerShdw blurRad="762000" dist="381000" dir="54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7877" y="6339483"/>
            <a:ext cx="5201245" cy="2512888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12106275" y="8852371"/>
            <a:ext cx="5124450" cy="838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2106275" y="8852371"/>
            <a:ext cx="5124450" cy="9525"/>
          </a:xfrm>
          <a:prstGeom prst="rect">
            <a:avLst/>
          </a:prstGeom>
          <a:solidFill>
            <a:srgbClr val="F2F1E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2315825" y="8976196"/>
            <a:ext cx="485908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REGOS · LIVE PRODUCT · REGOS.AI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47750" y="960596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 · FROG OS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5831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5875" y="859631"/>
            <a:ext cx="20472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200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19238"/>
            <a:ext cx="17811750" cy="822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06"/>
              </a:lnSpc>
              <a:buNone/>
            </a:pPr>
            <a:r>
              <a:rPr lang="en-US" sz="6300" b="1" kern="0" spc="-12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large county runs this same program.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047750" y="2531864"/>
            <a:ext cx="1422558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Restaurants, haulers, and inspectors on paper. A utility paying to clear blockages. Miami-Dade is the beachhead, not the market.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3903464"/>
            <a:ext cx="10096500" cy="1009650"/>
          </a:xfrm>
          <a:prstGeom prst="roundRect">
            <a:avLst>
              <a:gd name="adj" fmla="val 16981"/>
            </a:avLst>
          </a:prstGeom>
          <a:solidFill>
            <a:srgbClr val="232220"/>
          </a:solidFill>
          <a:ln w="9525">
            <a:solidFill>
              <a:srgbClr val="7DC6E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00175" y="4298752"/>
            <a:ext cx="57001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22587" y="4179689"/>
            <a:ext cx="233468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Miami-Dade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16405" y="4258270"/>
            <a:ext cx="43754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9,000 LOCATIONS · 560 HAULERS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5141714"/>
            <a:ext cx="13335000" cy="1009650"/>
          </a:xfrm>
          <a:prstGeom prst="roundRect">
            <a:avLst>
              <a:gd name="adj" fmla="val 16981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00175" y="5537002"/>
            <a:ext cx="73461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7191" y="5417939"/>
            <a:ext cx="449558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wastewater utilities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560144" y="5496520"/>
            <a:ext cx="34701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MAJOR FOG PROGRAM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7750" y="6379964"/>
            <a:ext cx="16192500" cy="1009650"/>
          </a:xfrm>
          <a:prstGeom prst="roundRect">
            <a:avLst>
              <a:gd name="adj" fmla="val 16981"/>
            </a:avLst>
          </a:prstGeom>
          <a:solidFill>
            <a:srgbClr val="7DC6E8">
              <a:alpha val="8000"/>
            </a:srgbClr>
          </a:solidFill>
          <a:ln w="9525">
            <a:solidFill>
              <a:srgbClr val="7DC6E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00175" y="6775252"/>
            <a:ext cx="73461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7191" y="6656189"/>
            <a:ext cx="473812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One Water stack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852785" y="6734770"/>
            <a:ext cx="60350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DRINKING WATER · WASTEWATER · STORMWATER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7750" y="7827764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BUYERS · PUBLIC UTILITIES · GOVERNMENT AGENCIES · THEIR ENGINEERING + CONSULTING FIRMS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47750" y="960596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 · FROG OS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5831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5875" y="859631"/>
            <a:ext cx="35360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BUSINESS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200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19238"/>
            <a:ext cx="17811750" cy="822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06"/>
              </a:lnSpc>
              <a:buNone/>
            </a:pPr>
            <a:r>
              <a:rPr lang="en-US" sz="6300" b="1" kern="0" spc="-12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against the cost it removes.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1047750" y="2874764"/>
            <a:ext cx="5206975" cy="3319463"/>
          </a:xfrm>
          <a:prstGeom prst="roundRect">
            <a:avLst>
              <a:gd name="adj" fmla="val 6313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38275" y="3246239"/>
            <a:ext cx="486851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SUBSCRIPTION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38275" y="3717727"/>
            <a:ext cx="455870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sold to agencies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38275" y="4708327"/>
            <a:ext cx="455870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 and WASD subscribe. Priced against the operating cost the platform removes.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40475" y="2874764"/>
            <a:ext cx="5206975" cy="3319463"/>
          </a:xfrm>
          <a:prstGeom prst="roundRect">
            <a:avLst>
              <a:gd name="adj" fmla="val 6313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31000" y="3246239"/>
            <a:ext cx="486851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INCENTIVE LAYER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31000" y="3717727"/>
            <a:ext cx="486851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Self-funding option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931000" y="4289227"/>
            <a:ext cx="4558703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Green-restaurant recognition businesses opt into, funded by permit revenue the County already collects. No new County money.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0" y="6613327"/>
            <a:ext cx="16192500" cy="1336328"/>
          </a:xfrm>
          <a:prstGeom prst="roundRect">
            <a:avLst>
              <a:gd name="adj" fmla="val 14255"/>
            </a:avLst>
          </a:prstGeom>
          <a:solidFill>
            <a:srgbClr val="322F2C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19225" y="7045747"/>
            <a:ext cx="2693715" cy="471488"/>
          </a:xfrm>
          <a:prstGeom prst="roundRect">
            <a:avLst>
              <a:gd name="adj" fmla="val 16162"/>
            </a:avLst>
          </a:prstGeom>
          <a:solidFill>
            <a:srgbClr val="4AC88C">
              <a:alpha val="16000"/>
            </a:srgbClr>
          </a:solidFill>
          <a:ln w="9525">
            <a:solidFill>
              <a:srgbClr val="4AC88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00200" y="7131472"/>
            <a:ext cx="241257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C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CAPITAL-EFFICIENT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79640" y="6908602"/>
            <a:ext cx="12863809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existing cloud and County data, so marginal cost stays low. Restaurants can opt into verified-waste monetization later.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047750" y="960596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 · FROG OS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5831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5875" y="859631"/>
            <a:ext cx="16750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TEAM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200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19238"/>
            <a:ext cx="17811750" cy="822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06"/>
              </a:lnSpc>
              <a:buNone/>
            </a:pPr>
            <a:r>
              <a:rPr lang="en-US" sz="6300" b="1" kern="0" spc="-12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founders ran the very agencies this serves.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1047750" y="2874764"/>
            <a:ext cx="5206975" cy="4676775"/>
          </a:xfrm>
          <a:prstGeom prst="roundRect">
            <a:avLst>
              <a:gd name="adj" fmla="val 4481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38275" y="3246239"/>
            <a:ext cx="876300" cy="876300"/>
          </a:xfrm>
          <a:prstGeom prst="roundRect">
            <a:avLst>
              <a:gd name="adj" fmla="val 23913"/>
            </a:avLst>
          </a:prstGeom>
          <a:gradFill rotWithShape="1">
            <a:gsLst>
              <a:gs pos="0">
                <a:srgbClr val="7DC6E8">
                  <a:alpha val="50000"/>
                </a:srgbClr>
              </a:gs>
              <a:gs pos="100000">
                <a:srgbClr val="7DC6E8">
                  <a:alpha val="15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24980" y="3477220"/>
            <a:ext cx="57901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9B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438275" y="4370189"/>
            <a:ext cx="486851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Hardeep Anand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38275" y="4903589"/>
            <a:ext cx="486851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 &amp; CEO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38275" y="5394127"/>
            <a:ext cx="4558703" cy="1824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years. Permitting, compliance, and the $8.5B capital program at Miami-Dade DERM and WASD. County One Water Director. Fort Lauderdale Public Works Director.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540475" y="2874764"/>
            <a:ext cx="5206975" cy="4676775"/>
          </a:xfrm>
          <a:prstGeom prst="roundRect">
            <a:avLst>
              <a:gd name="adj" fmla="val 4481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31000" y="3246239"/>
            <a:ext cx="876300" cy="876300"/>
          </a:xfrm>
          <a:prstGeom prst="roundRect">
            <a:avLst>
              <a:gd name="adj" fmla="val 23913"/>
            </a:avLst>
          </a:prstGeom>
          <a:gradFill rotWithShape="1">
            <a:gsLst>
              <a:gs pos="0">
                <a:srgbClr val="7DC6E8">
                  <a:alpha val="50000"/>
                </a:srgbClr>
              </a:gs>
              <a:gs pos="100000">
                <a:srgbClr val="7DC6E8">
                  <a:alpha val="15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97688" y="3477220"/>
            <a:ext cx="619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9B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931000" y="4370189"/>
            <a:ext cx="486851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Rudy Ortiz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31000" y="4903589"/>
            <a:ext cx="486851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CO-FOUNDER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31000" y="5394127"/>
            <a:ext cx="455870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and CEO of CES Consultants. 40+ years across construction, water, wastewater, stormwater, and engineering.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2033200" y="2874764"/>
            <a:ext cx="5207050" cy="4676775"/>
          </a:xfrm>
          <a:prstGeom prst="roundRect">
            <a:avLst>
              <a:gd name="adj" fmla="val 4481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2423725" y="3246239"/>
            <a:ext cx="876300" cy="876300"/>
          </a:xfrm>
          <a:prstGeom prst="roundRect">
            <a:avLst>
              <a:gd name="adj" fmla="val 23913"/>
            </a:avLst>
          </a:prstGeom>
          <a:gradFill rotWithShape="1">
            <a:gsLst>
              <a:gs pos="0">
                <a:srgbClr val="7DC6E8">
                  <a:alpha val="50000"/>
                </a:srgbClr>
              </a:gs>
              <a:gs pos="100000">
                <a:srgbClr val="7DC6E8">
                  <a:alpha val="15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620402" y="3477220"/>
            <a:ext cx="55907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9B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2423725" y="4370189"/>
            <a:ext cx="48686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 Anand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2423725" y="4903589"/>
            <a:ext cx="48686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&amp; GO-TO-MARKET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423725" y="5394127"/>
            <a:ext cx="455878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entrepreneur. Leads marketing and go-to-market across the OS family.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3371404" y="8008739"/>
            <a:ext cx="11545119" cy="614363"/>
          </a:xfrm>
          <a:prstGeom prst="roundRect">
            <a:avLst>
              <a:gd name="adj" fmla="val 50000"/>
            </a:avLst>
          </a:prstGeom>
          <a:ln w="9525">
            <a:solidFill>
              <a:srgbClr val="F2F1EC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85729" y="8151614"/>
            <a:ext cx="1126282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 · OPERATOR · PRIVATE SECTOR · ENGINEERING · TECH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47750" y="960596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 · FROG OS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5831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5875" y="859631"/>
            <a:ext cx="37221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IMPACT &amp; VISION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200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19238"/>
            <a:ext cx="17811750" cy="822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06"/>
              </a:lnSpc>
              <a:buNone/>
            </a:pPr>
            <a:r>
              <a:rPr lang="en-US" sz="6300" b="1" kern="0" spc="-12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cleanup to predictive utilities.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047750" y="2836664"/>
            <a:ext cx="8044815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31"/>
              </a:lnSpc>
              <a:buNone/>
            </a:pPr>
            <a:r>
              <a:rPr lang="en-US" sz="285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avoided sewer overflow can pay for the year.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47750" y="4080570"/>
            <a:ext cx="8044815" cy="123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is upside, reported as ranges against WASD's own baseline, never false precision: staff-hours returned, pump energy down, pump life extended, education targeted by basin.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047750" y="5542955"/>
            <a:ext cx="8044815" cy="163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aspiration is AI-ready cities, governments, and utilities. Education is a cornerstone, carried by the One Water Foundation: government, vendors, consultants, academia, and nonprofits at one table.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865444" y="2836664"/>
            <a:ext cx="811220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TRACK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865444" y="3346252"/>
            <a:ext cx="7374731" cy="923925"/>
          </a:xfrm>
          <a:prstGeom prst="roundRect">
            <a:avLst>
              <a:gd name="adj" fmla="val 18557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179769" y="3755827"/>
            <a:ext cx="104775" cy="104775"/>
          </a:xfrm>
          <a:prstGeom prst="ellipse">
            <a:avLst/>
          </a:prstGeom>
          <a:solidFill>
            <a:srgbClr val="4AC8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94094" y="3603427"/>
            <a:ext cx="370199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Overflows prevented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865444" y="4479727"/>
            <a:ext cx="7374731" cy="923925"/>
          </a:xfrm>
          <a:prstGeom prst="roundRect">
            <a:avLst>
              <a:gd name="adj" fmla="val 18557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179769" y="4889302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494094" y="4736902"/>
            <a:ext cx="57271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Grease kept out of Biscayne Bay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865444" y="5613202"/>
            <a:ext cx="7374731" cy="923925"/>
          </a:xfrm>
          <a:prstGeom prst="roundRect">
            <a:avLst>
              <a:gd name="adj" fmla="val 18557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179769" y="6022777"/>
            <a:ext cx="104775" cy="104775"/>
          </a:xfrm>
          <a:prstGeom prst="ellipse">
            <a:avLst/>
          </a:prstGeom>
          <a:solidFill>
            <a:srgbClr val="E0A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94094" y="5870377"/>
            <a:ext cx="230431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avoided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47750" y="960596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 · FROG OS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5831"/>
            <a:ext cx="104775" cy="104775"/>
          </a:xfrm>
          <a:prstGeom prst="ellipse">
            <a:avLst/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5875" y="859631"/>
            <a:ext cx="22332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THE ASK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20095" y="838200"/>
            <a:ext cx="11963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19238"/>
            <a:ext cx="17811750" cy="822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06"/>
              </a:lnSpc>
              <a:buNone/>
            </a:pPr>
            <a:r>
              <a:rPr lang="en-US" sz="6300" b="1" kern="0" spc="-12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 and 6 months.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1047750" y="2684264"/>
            <a:ext cx="7029450" cy="5957888"/>
          </a:xfrm>
          <a:prstGeom prst="roundRect">
            <a:avLst>
              <a:gd name="adj" fmla="val 3837"/>
            </a:avLst>
          </a:prstGeom>
          <a:solidFill>
            <a:srgbClr val="232220"/>
          </a:solidFill>
          <a:ln w="9525">
            <a:solidFill>
              <a:srgbClr val="7DC6E8">
                <a:alpha val="50000"/>
              </a:srgbClr>
            </a:solidFill>
            <a:prstDash val="solid"/>
          </a:ln>
          <a:effectLst>
            <a:outerShdw blurRad="571500" dist="285750" dir="5400000" algn="bl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76375" y="2998589"/>
            <a:ext cx="678942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8250" b="1" kern="0" spc="-247" dirty="0">
                <a:solidFill>
                  <a:srgbClr val="7D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1476375" y="4141589"/>
            <a:ext cx="67894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MDIA equity investment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476375" y="4660702"/>
            <a:ext cx="6172200" cy="9525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76375" y="4794052"/>
            <a:ext cx="635736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2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+ 4 TO 6 MONTH WASD / DERM PILOT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76375" y="5217914"/>
            <a:ext cx="6172200" cy="9525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76375" y="5351264"/>
            <a:ext cx="635736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A BASIN · WE CONNECT IT END TO END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76375" y="5775127"/>
            <a:ext cx="6172200" cy="9525"/>
          </a:xfrm>
          <a:prstGeom prst="rect">
            <a:avLst/>
          </a:prstGeom>
          <a:solidFill>
            <a:srgbClr val="F2F1EC">
              <a:alpha val="1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76375" y="5908477"/>
            <a:ext cx="635736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ALMOST NO STAFF TIME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76375" y="7256264"/>
            <a:ext cx="6357366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build item: the production host service for notice, validation, and audit tools. Plus certification of one sensor vendor, SmartCover.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8648700" y="2684264"/>
            <a:ext cx="8591550" cy="1974056"/>
          </a:xfrm>
          <a:prstGeom prst="roundRect">
            <a:avLst>
              <a:gd name="adj" fmla="val 9650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82075" y="2979539"/>
            <a:ext cx="28164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MO 1-2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28190" y="2922389"/>
            <a:ext cx="558655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the basin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1828190" y="3384352"/>
            <a:ext cx="5231046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Permits, manifests, inspections, and pump data into one model. Record the County's cost baseline.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8648700" y="4848820"/>
            <a:ext cx="8591550" cy="1628775"/>
          </a:xfrm>
          <a:prstGeom prst="roundRect">
            <a:avLst>
              <a:gd name="adj" fmla="val 11696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82075" y="5144095"/>
            <a:ext cx="28164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MO 3-4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28190" y="5086945"/>
            <a:ext cx="558655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and rank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1828190" y="5548908"/>
            <a:ext cx="523104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 risk lands on its real source. Chronic stations ranked by recoverable cost.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8648700" y="6668095"/>
            <a:ext cx="8591550" cy="1974056"/>
          </a:xfrm>
          <a:prstGeom prst="roundRect">
            <a:avLst>
              <a:gd name="adj" fmla="val 9650"/>
            </a:avLst>
          </a:prstGeom>
          <a:solidFill>
            <a:srgbClr val="232220"/>
          </a:solidFill>
          <a:ln w="9525">
            <a:solidFill>
              <a:srgbClr val="F2F1E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982075" y="6963370"/>
            <a:ext cx="28164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ED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· MO 5-6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28190" y="6906220"/>
            <a:ext cx="558655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1828190" y="7368183"/>
            <a:ext cx="5231046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A2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path from kitchen to plant. Pipe OS prototyped. Weekly dashboard and ROI readout.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047750" y="960596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 · FROG OS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7DC6E8">
                  <a:alpha val="16000"/>
                </a:srgbClr>
              </a:gs>
              <a:gs pos="60000">
                <a:srgbClr val="7DC6E8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02301" y="3290962"/>
            <a:ext cx="495300" cy="495300"/>
          </a:xfrm>
          <a:prstGeom prst="roundRect">
            <a:avLst>
              <a:gd name="adj" fmla="val 30769"/>
            </a:avLst>
          </a:prstGeom>
          <a:solidFill>
            <a:srgbClr val="7DC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54701" y="34433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1023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9093" y="3298106"/>
            <a:ext cx="1759074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 OS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9457361" y="3388593"/>
            <a:ext cx="181056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216" dirty="0">
                <a:solidFill>
                  <a:srgbClr val="837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APAS.AI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8471" y="4319662"/>
            <a:ext cx="15550984" cy="1048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8770"/>
              </a:lnSpc>
              <a:buNone/>
            </a:pPr>
            <a:r>
              <a:rPr lang="en-US" sz="7800" b="1" kern="0" spc="-156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County already owns the data.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 rot="164693">
            <a:off x="4186424" y="5539606"/>
            <a:ext cx="9284877" cy="616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95782"/>
              </a:lnSpc>
              <a:buNone/>
            </a:pPr>
            <a:r>
              <a:rPr lang="en-US" sz="4800" b="1" kern="0" spc="-96" dirty="0">
                <a:solidFill>
                  <a:srgbClr val="7D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 OS sees FOG before it costs.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18408" y="6819751"/>
            <a:ext cx="133489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195" dirty="0">
                <a:solidFill>
                  <a:srgbClr val="A29C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APAS.AI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7430" y="6819751"/>
            <a:ext cx="2495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195" dirty="0">
                <a:solidFill>
                  <a:srgbClr val="555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1367</Words>
  <Application>Microsoft Macintosh PowerPoint</Application>
  <PresentationFormat>Custom</PresentationFormat>
  <Paragraphs>232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Hardeep Anand</cp:lastModifiedBy>
  <cp:revision>2</cp:revision>
  <dcterms:created xsi:type="dcterms:W3CDTF">2026-07-26T02:24:18Z</dcterms:created>
  <dcterms:modified xsi:type="dcterms:W3CDTF">2026-07-26T02:27:31Z</dcterms:modified>
</cp:coreProperties>
</file>